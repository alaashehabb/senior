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5"/>
              </a:gs>
              <a:gs pos="100000">
                <a:srgbClr val="2A1B5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332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291840"/>
            <a:ext cx="3291840" cy="3291840"/>
          </a:xfrm>
          <a:prstGeom prst="ellipse">
            <a:avLst/>
          </a:prstGeom>
          <a:solidFill>
            <a:srgbClr val="2E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146304" cy="9601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86868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A78BFA"/>
                </a:solidFill>
                <a:latin typeface="Calibri"/>
              </a:rPr>
              <a:t>Es</a:t>
            </a:r>
            <a:r>
              <a:rPr sz="6000" b="1">
                <a:solidFill>
                  <a:srgbClr val="EC4899"/>
                </a:solidFill>
                <a:latin typeface="Calibri"/>
              </a:rPr>
              <a:t>hara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78BFA"/>
                </a:solidFill>
                <a:latin typeface="Calibri"/>
              </a:rPr>
              <a:t>إشارة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A Bilingual Sign Language Recognition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&amp; Communication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A78BFA"/>
                </a:solidFill>
                <a:latin typeface="Calibri"/>
              </a:rPr>
              <a:t>Real-Time Letter and Word Recognition with a Web-Based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10561320" cy="1371600"/>
          </a:xfrm>
          <a:prstGeom prst="roundRect">
            <a:avLst/>
          </a:prstGeom>
          <a:solidFill>
            <a:srgbClr val="24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07492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C4899"/>
                </a:solidFill>
                <a:latin typeface="Calibri"/>
              </a:rPr>
              <a:t>PRESENTED BY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Ahmed Adel Sayed Gouda  ·  Hadeel Gamal Eldin Mohamed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Alaa Osama Mohammed Shehab  ·  Salah Mohamed Salah Ibrahim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07492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C4899"/>
                </a:solidFill>
                <a:latin typeface="Calibri"/>
              </a:rPr>
              <a:t>SUPERVISED BY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Dr. Nada Mostafa Abdelaziem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Dr. Reham Taher Al Magraby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78BFA"/>
                </a:solidFill>
                <a:latin typeface="Calibri"/>
              </a:rPr>
              <a:t>Arab Academy for Science, Technology &amp; Maritime Transport   ·   Computer Engineering Department   · 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The Communication Barrier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91640"/>
            <a:ext cx="5943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7C3AED"/>
                </a:solidFill>
                <a:latin typeface="Calibri"/>
              </a:rPr>
              <a:t>•  </a:t>
            </a:r>
            <a:r>
              <a:rPr sz="1650" b="1">
                <a:solidFill>
                  <a:srgbClr val="444B5A"/>
                </a:solidFill>
                <a:latin typeface="Calibri"/>
              </a:rPr>
              <a:t>Sign language is the primary means of communication </a:t>
            </a:r>
            <a:r>
              <a:rPr sz="1650">
                <a:solidFill>
                  <a:srgbClr val="444B5A"/>
                </a:solidFill>
                <a:latin typeface="Calibri"/>
              </a:rPr>
              <a:t>for most deaf and hard-of-hearing people — not spoken language.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7C3AED"/>
                </a:solidFill>
                <a:latin typeface="Calibri"/>
              </a:rPr>
              <a:t>•  </a:t>
            </a:r>
            <a:r>
              <a:rPr sz="1650" b="1">
                <a:solidFill>
                  <a:srgbClr val="444B5A"/>
                </a:solidFill>
                <a:latin typeface="Calibri"/>
              </a:rPr>
              <a:t>Human interpreters are effective but scarce, </a:t>
            </a:r>
            <a:r>
              <a:rPr sz="1650">
                <a:solidFill>
                  <a:srgbClr val="444B5A"/>
                </a:solidFill>
                <a:latin typeface="Calibri"/>
              </a:rPr>
              <a:t>costly, and cannot be present in every classroom, clinic, or service desk.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7C3AED"/>
                </a:solidFill>
                <a:latin typeface="Calibri"/>
              </a:rPr>
              <a:t>•  </a:t>
            </a:r>
            <a:r>
              <a:rPr sz="1650" b="1">
                <a:solidFill>
                  <a:srgbClr val="444B5A"/>
                </a:solidFill>
                <a:latin typeface="Calibri"/>
              </a:rPr>
              <a:t>Automated recognition can scale </a:t>
            </a:r>
            <a:r>
              <a:rPr sz="1650">
                <a:solidFill>
                  <a:srgbClr val="444B5A"/>
                </a:solidFill>
                <a:latin typeface="Calibri"/>
              </a:rPr>
              <a:t>— yet most tools cover only one language, or only one recognition level.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7C3AED"/>
                </a:solidFill>
                <a:latin typeface="Calibri"/>
              </a:rPr>
              <a:t>•  </a:t>
            </a:r>
            <a:r>
              <a:rPr sz="1650" b="1">
                <a:solidFill>
                  <a:srgbClr val="444B5A"/>
                </a:solidFill>
                <a:latin typeface="Calibri"/>
              </a:rPr>
              <a:t>Arabic Sign Language is under-served </a:t>
            </a:r>
            <a:r>
              <a:rPr sz="1650">
                <a:solidFill>
                  <a:srgbClr val="444B5A"/>
                </a:solidFill>
                <a:latin typeface="Calibri"/>
              </a:rPr>
              <a:t>despite large deaf populations across the Arab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83080"/>
            <a:ext cx="448056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1783080"/>
            <a:ext cx="100584" cy="12344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96596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7C3AED"/>
                </a:solidFill>
                <a:latin typeface="Calibri"/>
              </a:rPr>
              <a:t>466M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62432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B5A"/>
                </a:solidFill>
                <a:latin typeface="Calibri"/>
              </a:rPr>
              <a:t>people worldwide live with disabling hearing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00400"/>
            <a:ext cx="448056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3200400"/>
            <a:ext cx="100584" cy="12344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338328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C4899"/>
                </a:solidFill>
                <a:latin typeface="Calibri"/>
              </a:rPr>
              <a:t>~7M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04164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B5A"/>
                </a:solidFill>
                <a:latin typeface="Calibri"/>
              </a:rPr>
              <a:t>of them are in the Arab region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617720"/>
            <a:ext cx="448056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4617720"/>
            <a:ext cx="100584" cy="1234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480060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&lt; 1 in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545896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B5A"/>
                </a:solidFill>
                <a:latin typeface="Calibri"/>
              </a:rPr>
              <a:t>SLR research papers ship a usable, browser-accessible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What Existing Systems Miss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8288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554480"/>
                <a:gridCol w="1645920"/>
                <a:gridCol w="16459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System / line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Lang.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Letters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Words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Live web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44B5A"/>
                          </a:solidFill>
                          <a:latin typeface="Calibri"/>
                        </a:rPr>
                        <a:t>Typical WLASL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444B5A"/>
                          </a:solidFill>
                          <a:latin typeface="Calibri"/>
                        </a:rPr>
                        <a:t>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8B92A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A06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8B92A6"/>
                          </a:solidFill>
                          <a:latin typeface="Calibri"/>
                        </a:rPr>
                        <a:t>Rare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44B5A"/>
                          </a:solidFill>
                          <a:latin typeface="Calibri"/>
                        </a:rPr>
                        <a:t>KArSL CNN–LSTM works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444B5A"/>
                          </a:solidFill>
                          <a:latin typeface="Calibri"/>
                        </a:rPr>
                        <a:t>AR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8B92A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A06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8B92A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44B5A"/>
                          </a:solidFill>
                          <a:latin typeface="Calibri"/>
                        </a:rPr>
                        <a:t>ArASL2018 / ArSLA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444B5A"/>
                          </a:solidFill>
                          <a:latin typeface="Calibri"/>
                        </a:rPr>
                        <a:t>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A06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8B92A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8B92A6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7C3AED"/>
                          </a:solidFill>
                          <a:latin typeface="Calibri"/>
                        </a:rPr>
                        <a:t>Eshara  (this project)</a:t>
                      </a:r>
                    </a:p>
                  </a:txBody>
                  <a:tcPr anchor="ctr">
                    <a:solidFill>
                      <a:srgbClr val="EF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C3AED"/>
                          </a:solidFill>
                          <a:latin typeface="Calibri"/>
                        </a:rPr>
                        <a:t>EN + AR</a:t>
                      </a:r>
                    </a:p>
                  </a:txBody>
                  <a:tcPr anchor="ctr">
                    <a:solidFill>
                      <a:srgbClr val="EF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C3AE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F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C3AE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F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C3AE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FEA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448056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444B5A"/>
                </a:solidFill>
                <a:latin typeface="Calibri"/>
              </a:rPr>
              <a:t>Eshara fills a </a:t>
            </a:r>
            <a:r>
              <a:rPr sz="1800" b="1" i="0">
                <a:solidFill>
                  <a:srgbClr val="7C3AED"/>
                </a:solidFill>
                <a:latin typeface="Calibri"/>
              </a:rPr>
              <a:t>structural gap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, not an accuracy gap: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444B5A"/>
                </a:solidFill>
                <a:latin typeface="Calibri"/>
              </a:rPr>
              <a:t>one webcam-driven web product covering </a:t>
            </a:r>
            <a:r>
              <a:rPr sz="1800" b="1" i="0">
                <a:solidFill>
                  <a:srgbClr val="1A1035"/>
                </a:solidFill>
                <a:latin typeface="Calibri"/>
              </a:rPr>
              <a:t>both languages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 at </a:t>
            </a:r>
            <a:r>
              <a:rPr sz="1800" b="1" i="0">
                <a:solidFill>
                  <a:srgbClr val="1A1035"/>
                </a:solidFill>
                <a:latin typeface="Calibri"/>
              </a:rPr>
              <a:t>both granularities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 — four specialised models behind a single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AIMS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What We Set Out to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10698480" cy="8686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10149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C4899"/>
                </a:solidFill>
                <a:latin typeface="Calibri"/>
              </a:rPr>
              <a:t>Aim   </a:t>
            </a:r>
            <a:r>
              <a:rPr sz="1550" b="0" i="0">
                <a:solidFill>
                  <a:srgbClr val="1A1035"/>
                </a:solidFill>
                <a:latin typeface="Calibri"/>
              </a:rPr>
              <a:t>Design, train, evaluate, and deploy a real-time bilingual ASL / ArSL system covering both letter and word recognition, accessible from a standard browser and webcam.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880360"/>
            <a:ext cx="3401568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880360"/>
            <a:ext cx="3401568" cy="8229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3136391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1546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099815"/>
            <a:ext cx="2487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Four model pipelines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ASL &amp; ArSL, letters &amp;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880360"/>
            <a:ext cx="3401568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2544" y="2880360"/>
            <a:ext cx="3401568" cy="82296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3712" y="3136391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1546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3099815"/>
            <a:ext cx="2487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Per-model features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MediaPipe landmarks + RGB clips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2880360"/>
            <a:ext cx="3401568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0" y="2880360"/>
            <a:ext cx="3401568" cy="8229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56448" y="3136391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1546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3099815"/>
            <a:ext cx="2487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Train / integrate models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MLP · Inception I3D · BiLSTM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526280"/>
            <a:ext cx="3401568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4526280"/>
            <a:ext cx="3401568" cy="82296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6" y="4782312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4745736"/>
            <a:ext cx="2487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Three-tier 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Node gateway + FastAPI inference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4526280"/>
            <a:ext cx="3401568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2544" y="4526280"/>
            <a:ext cx="3401568" cy="8229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782312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4745736"/>
            <a:ext cx="2487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React web client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live recognition + authenticated 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4526280"/>
            <a:ext cx="3401568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55280" y="4526280"/>
            <a:ext cx="3401568" cy="82296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56448" y="4782312"/>
            <a:ext cx="457200" cy="4572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8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1664" y="4745736"/>
            <a:ext cx="2487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Rigorous evaluation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Top-1/Top-5, macro-F1, 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9893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4899"/>
                </a:solidFill>
                <a:latin typeface="Calibri"/>
              </a:rPr>
              <a:t>Out of scope:  </a:t>
            </a:r>
            <a:r>
              <a:rPr sz="1250" b="0" i="0">
                <a:solidFill>
                  <a:srgbClr val="8B92A6"/>
                </a:solidFill>
                <a:latin typeface="Calibri"/>
              </a:rPr>
              <a:t>continuous sentence translation, grammatical parsing, other sign languages, multi-signer scenes, native mobile apps, depth-camera hardware.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Three-Tier Web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7-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83080"/>
            <a:ext cx="6766560" cy="3417508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7772400" y="1828800"/>
            <a:ext cx="37490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109728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975104"/>
            <a:ext cx="3383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Client Tier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1035"/>
                </a:solidFill>
                <a:latin typeface="Calibri"/>
              </a:rPr>
              <a:t>React + Vite SPA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Captures webcam frames, renders skeletons &amp;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310128"/>
            <a:ext cx="37490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3310128"/>
            <a:ext cx="109728" cy="13716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3456432"/>
            <a:ext cx="3383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C4899"/>
                </a:solidFill>
                <a:latin typeface="Calibri"/>
              </a:rPr>
              <a:t>Application Tier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1035"/>
                </a:solidFill>
                <a:latin typeface="Calibri"/>
              </a:rPr>
              <a:t>Node.js + Express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JWT auth · Prisma/SQLite · Socket.IO · secure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791456"/>
            <a:ext cx="3749039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0" y="4791456"/>
            <a:ext cx="109728" cy="13716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4937760"/>
            <a:ext cx="3383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Inference Tier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1035"/>
                </a:solidFill>
                <a:latin typeface="Calibri"/>
              </a:rPr>
              <a:t>FastAPI (Python)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Four models behind one /predict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19963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4899"/>
                </a:solidFill>
                <a:latin typeface="Calibri"/>
              </a:rPr>
              <a:t>Privacy by design:  </a:t>
            </a:r>
            <a:r>
              <a:rPr sz="1250" b="0" i="0">
                <a:solidFill>
                  <a:srgbClr val="444B5A"/>
                </a:solidFill>
                <a:latin typeface="Calibri"/>
              </a:rPr>
              <a:t>compact landmark vectors travel over the wire, not raw video — the FastAPI tier stays off the public internet.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THE FOUR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One Model Matched to Each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828800"/>
          <a:ext cx="1019555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51560"/>
                <a:gridCol w="1965960"/>
                <a:gridCol w="1874519"/>
                <a:gridCol w="1051560"/>
                <a:gridCol w="1325880"/>
                <a:gridCol w="1234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Classes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Top-1</a:t>
                      </a:r>
                    </a:p>
                  </a:txBody>
                  <a:tcPr anchor="ctr">
                    <a:solidFill>
                      <a:srgbClr val="1A10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ASL Letter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78-D hand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~49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A06B"/>
                          </a:solidFill>
                          <a:latin typeface="Calibri"/>
                        </a:rPr>
                        <a:t>99.06%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ArSL Letter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63-D hand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~183 K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A06B"/>
                          </a:solidFill>
                          <a:latin typeface="Calibri"/>
                        </a:rPr>
                        <a:t>99.63%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ASL 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Inception I3D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32× RGB clip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~12.5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6A00"/>
                          </a:solidFill>
                          <a:latin typeface="Calibri"/>
                        </a:rPr>
                        <a:t>65.89%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ArSL Word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Stacked BiLSTM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48× 225-D pose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B5A"/>
                          </a:solidFill>
                          <a:latin typeface="Calibri"/>
                        </a:rPr>
                        <a:t>~255 K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A06B"/>
                          </a:solidFill>
                          <a:latin typeface="Calibri"/>
                        </a:rPr>
                        <a:t>99.62%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12064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Static finger-spelling </a:t>
            </a:r>
            <a:r>
              <a:rPr sz="1600" b="0" i="0">
                <a:solidFill>
                  <a:srgbClr val="444B5A"/>
                </a:solidFill>
                <a:latin typeface="Calibri"/>
              </a:rPr>
              <a:t>needs only per-frame pose → compact MLPs.   </a:t>
            </a:r>
            <a:r>
              <a:rPr sz="1600" b="1" i="0">
                <a:solidFill>
                  <a:srgbClr val="1A1035"/>
                </a:solidFill>
                <a:latin typeface="Calibri"/>
              </a:rPr>
              <a:t>Word signs </a:t>
            </a:r>
            <a:r>
              <a:rPr sz="1600" b="0" i="0">
                <a:solidFill>
                  <a:srgbClr val="444B5A"/>
                </a:solidFill>
                <a:latin typeface="Calibri"/>
              </a:rPr>
              <a:t>need temporal modelling → 3-D CNN (RGB) for ASL, BiLSTM (landmarks) for ArSL.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1">
                <a:solidFill>
                  <a:srgbClr val="8B92A6"/>
                </a:solidFill>
                <a:latin typeface="Calibri"/>
              </a:rPr>
              <a:t>No shared label space — bilingual capability = four parallel pipelines behind one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RECOGNITION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The Real-Time Letter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1298448" cy="932688"/>
          </a:xfrm>
          <a:prstGeom prst="round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Webcam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2536" y="1828800"/>
            <a:ext cx="35661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1828800"/>
            <a:ext cx="1298448" cy="93268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MediaPipe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Hands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35661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7056" y="1828800"/>
            <a:ext cx="1298448" cy="932688"/>
          </a:xfrm>
          <a:prstGeom prst="round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Feature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1828800"/>
            <a:ext cx="35661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828800"/>
            <a:ext cx="1298448" cy="93268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A1035"/>
                </a:solidFill>
                <a:latin typeface="Calibri"/>
              </a:rPr>
              <a:t>MLP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A1035"/>
                </a:solidFill>
                <a:latin typeface="Calibri"/>
              </a:rP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1828800"/>
            <a:ext cx="35661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4" y="1828800"/>
            <a:ext cx="1298448" cy="932688"/>
          </a:xfrm>
          <a:prstGeom prst="round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Confidence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1828800"/>
            <a:ext cx="35661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1828800"/>
            <a:ext cx="1298448" cy="93268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Stabilization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1828800"/>
            <a:ext cx="356616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31552" y="1828800"/>
            <a:ext cx="1298448" cy="932688"/>
          </a:xfrm>
          <a:prstGeom prst="round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31552" y="1828800"/>
            <a:ext cx="129844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Sentence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035"/>
                </a:solidFill>
                <a:latin typeface="Calibr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383280"/>
            <a:ext cx="6492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Seven sequential stages </a:t>
            </a:r>
            <a:r>
              <a:rPr sz="1550">
                <a:solidFill>
                  <a:srgbClr val="444B5A"/>
                </a:solidFill>
                <a:latin typeface="Calibri"/>
              </a:rPr>
              <a:t>turn each webcam frame into a committed letter, entirely in real time.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Frames are intentionally dropped </a:t>
            </a:r>
            <a:r>
              <a:rPr sz="1550">
                <a:solidFill>
                  <a:srgbClr val="444B5A"/>
                </a:solidFill>
                <a:latin typeface="Calibri"/>
              </a:rPr>
              <a:t>to keep latency low — not every frame is processed.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The model is pre-loaded </a:t>
            </a:r>
            <a:r>
              <a:rPr sz="1550">
                <a:solidFill>
                  <a:srgbClr val="444B5A"/>
                </a:solidFill>
                <a:latin typeface="Calibri"/>
              </a:rPr>
              <a:t>from a saved .h5 file before the camera loop ever starts.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3383280"/>
            <a:ext cx="3813048" cy="2148840"/>
          </a:xfrm>
          <a:prstGeom prst="roundRect">
            <a:avLst/>
          </a:prstGeom>
          <a:solidFill>
            <a:srgbClr val="F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3383280"/>
            <a:ext cx="109728" cy="21488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3611880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A78BFA"/>
                </a:solidFill>
                <a:latin typeface="Calibri"/>
              </a:rPr>
              <a:t>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A1035"/>
                </a:solidFill>
                <a:latin typeface="Calibri"/>
              </a:rPr>
              <a:t>The system runs entirely in inference mode. No training happens at runtime.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RECOGNITION · 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From Landmarks to 78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21 hand landmarks </a:t>
            </a:r>
            <a:r>
              <a:rPr sz="1550">
                <a:solidFill>
                  <a:srgbClr val="444B5A"/>
                </a:solidFill>
                <a:latin typeface="Calibri"/>
              </a:rPr>
              <a:t>from MediaPipe — 63 raw (x, y, z) values per frame.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Wrist-relative coordinates — 63 </a:t>
            </a:r>
            <a:r>
              <a:rPr sz="1550">
                <a:solidFill>
                  <a:srgbClr val="444B5A"/>
                </a:solidFill>
                <a:latin typeface="Calibri"/>
              </a:rPr>
              <a:t>features. Subtracting the wrist from every landmark removes any dependence on where the hand sits in the frame.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Joint bend angles — 15 </a:t>
            </a:r>
            <a:r>
              <a:rPr sz="1550">
                <a:solidFill>
                  <a:srgbClr val="444B5A"/>
                </a:solidFill>
                <a:latin typeface="Calibri"/>
              </a:rPr>
              <a:t>features. The angle at each finger joint, computed with the dot-product formula — scale-invariant, identical whether the hand is near or far.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63 + 15 = 78-D input vector </a:t>
            </a:r>
            <a:r>
              <a:rPr sz="1550">
                <a:solidFill>
                  <a:srgbClr val="444B5A"/>
                </a:solidFill>
                <a:latin typeface="Calibri"/>
              </a:rPr>
              <a:t>→ fed straight into the MLP.</a:t>
            </a:r>
          </a:p>
        </p:txBody>
      </p:sp>
      <p:pic>
        <p:nvPicPr>
          <p:cNvPr id="8" name="Picture 7" descr="fig_3-5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783080"/>
            <a:ext cx="4251960" cy="4251960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RECOGNITION ·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The MLP Classifier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3-2_ml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19072"/>
            <a:ext cx="9144000" cy="3162186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49808" y="5138928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 </a:t>
            </a:r>
            <a:r>
              <a:rPr sz="1350" b="1">
                <a:solidFill>
                  <a:srgbClr val="444B5A"/>
                </a:solidFill>
                <a:latin typeface="Calibri"/>
              </a:rPr>
              <a:t>Input is exactly 78 numbers </a:t>
            </a:r>
            <a:r>
              <a:rPr sz="1350">
                <a:solidFill>
                  <a:srgbClr val="444B5A"/>
                </a:solidFill>
                <a:latin typeface="Calibri"/>
              </a:rPr>
              <a:t>— 63 position features + 15 angle features (the ArSL variant instead takes 63 raw landmarks).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 </a:t>
            </a:r>
            <a:r>
              <a:rPr sz="1350" b="1">
                <a:solidFill>
                  <a:srgbClr val="444B5A"/>
                </a:solidFill>
                <a:latin typeface="Calibri"/>
              </a:rPr>
              <a:t>Each hidden block applies BatchNorm → ReLU → Dropout </a:t>
            </a:r>
            <a:r>
              <a:rPr sz="1350">
                <a:solidFill>
                  <a:srgbClr val="444B5A"/>
                </a:solidFill>
                <a:latin typeface="Calibri"/>
              </a:rPr>
              <a:t>in that order, narrowing 256 → 128 → 64 neurons.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 </a:t>
            </a:r>
            <a:r>
              <a:rPr sz="1350" b="1">
                <a:solidFill>
                  <a:srgbClr val="444B5A"/>
                </a:solidFill>
                <a:latin typeface="Calibri"/>
              </a:rPr>
              <a:t>Softmax output </a:t>
            </a:r>
            <a:r>
              <a:rPr sz="1350">
                <a:solidFill>
                  <a:srgbClr val="444B5A"/>
                </a:solidFill>
                <a:latin typeface="Calibri"/>
              </a:rPr>
              <a:t>— 29 classes for ASL (A–Z plus space, del, nothing) and 32 for ArSL; 99.06% and 99.63% Top-1.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RECOGNITION · STABILISATION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Committing Letters, Not Flicker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44B5A"/>
                </a:solidFill>
                <a:latin typeface="Calibri"/>
              </a:rPr>
              <a:t>Turning noisy per-frame predictions into committed letters — a four-state tracker: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6126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State 1 — No hand detected </a:t>
            </a:r>
            <a:r>
              <a:rPr sz="1500">
                <a:solidFill>
                  <a:srgbClr val="444B5A"/>
                </a:solidFill>
                <a:latin typeface="Calibri"/>
              </a:rPr>
              <a:t>: the tracker resets completely.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State 2 — Collecting votes </a:t>
            </a:r>
            <a:r>
              <a:rPr sz="1500">
                <a:solidFill>
                  <a:srgbClr val="444B5A"/>
                </a:solidFill>
                <a:latin typeface="Calibri"/>
              </a:rPr>
              <a:t>: the last 15 frame predictions are held in a rolling buffer.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State 3 — Commit </a:t>
            </a:r>
            <a:r>
              <a:rPr sz="1500">
                <a:solidFill>
                  <a:srgbClr val="444B5A"/>
                </a:solidFill>
                <a:latin typeface="Calibri"/>
              </a:rPr>
              <a:t>: triggered when 11 of 15 frames agree on the same letter.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State 4 — Cooldown </a:t>
            </a:r>
            <a:r>
              <a:rPr sz="1500">
                <a:solidFill>
                  <a:srgbClr val="444B5A"/>
                </a:solidFill>
                <a:latin typeface="Calibri"/>
              </a:rPr>
              <a:t>: output is locked for 1.2 s to prevent duplicate letters.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Confidence below 75% </a:t>
            </a:r>
            <a:r>
              <a:rPr sz="1500">
                <a:solidFill>
                  <a:srgbClr val="444B5A"/>
                </a:solidFill>
                <a:latin typeface="Calibri"/>
              </a:rPr>
              <a:t>is rejected before it ever enters the tracker.</a:t>
            </a:r>
          </a:p>
        </p:txBody>
      </p:sp>
      <p:pic>
        <p:nvPicPr>
          <p:cNvPr id="9" name="Picture 8" descr="fig_3-4_stabilisation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74519"/>
            <a:ext cx="4160520" cy="4160520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Optimising for Real-Time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44B5A"/>
                </a:solidFill>
                <a:latin typeface="Calibri"/>
              </a:rPr>
              <a:t>Three implementation choices keep single-frame inference smooth at ~30 fps: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31720"/>
            <a:ext cx="3429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331720"/>
            <a:ext cx="342900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ThreadedCamera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017520"/>
            <a:ext cx="2926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A background thread reads the webcam continuously.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A size-1 queue keeps only the newest frame, so the main loop never waits — it always gets the most recent frame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331720"/>
            <a:ext cx="3429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2331720"/>
            <a:ext cx="3429000" cy="50292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33172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tf.function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017520"/>
            <a:ext cx="2926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Decorating inference with tf.function traces it once into a static graph.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Later calls skip Python interpreter overhead; a dummy warm-up call before the loop means frame one has no stutter.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31720"/>
            <a:ext cx="3429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2331720"/>
            <a:ext cx="342900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233172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Direct Model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2926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Calling the model directly with training=False skips model.predict's batching and callback overhead.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That matters when processing a single 1×78 input 30 times per second.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RECOGNITION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Word Models — Motion Over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230368" cy="39776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230368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82880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ASL WORDS · MODEL 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Inception I3D (3-D CNN)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651760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 </a:t>
            </a:r>
            <a:r>
              <a:rPr sz="1400" b="1">
                <a:solidFill>
                  <a:srgbClr val="444B5A"/>
                </a:solidFill>
                <a:latin typeface="Calibri"/>
              </a:rPr>
              <a:t>Raw RGB clips </a:t>
            </a:r>
            <a:r>
              <a:rPr sz="1400">
                <a:solidFill>
                  <a:srgbClr val="444B5A"/>
                </a:solidFill>
                <a:latin typeface="Calibri"/>
              </a:rPr>
              <a:t>— 32 frames × 224×224, no landmark engineering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 </a:t>
            </a:r>
            <a:r>
              <a:rPr sz="1400" b="1">
                <a:solidFill>
                  <a:srgbClr val="444B5A"/>
                </a:solidFill>
                <a:latin typeface="Calibri"/>
              </a:rPr>
              <a:t>Inflated 3-D convolutions </a:t>
            </a:r>
            <a:r>
              <a:rPr sz="1400">
                <a:solidFill>
                  <a:srgbClr val="444B5A"/>
                </a:solidFill>
                <a:latin typeface="Calibri"/>
              </a:rPr>
              <a:t>learn spatio-temporal motion jointly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 </a:t>
            </a:r>
            <a:r>
              <a:rPr sz="1400" b="1">
                <a:solidFill>
                  <a:srgbClr val="444B5A"/>
                </a:solidFill>
                <a:latin typeface="Calibri"/>
              </a:rPr>
              <a:t>100 WLASL glosses</a:t>
            </a:r>
            <a:r>
              <a:rPr sz="1400">
                <a:solidFill>
                  <a:srgbClr val="444B5A"/>
                </a:solidFill>
                <a:latin typeface="Calibri"/>
              </a:rPr>
              <a:t>,  ~12.5 M params (pretrained checkpoint)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5138928"/>
            <a:ext cx="4681728" cy="502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5138928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65.89% Top-1  ·  84.11% Top-5  (WLASL-100)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230368" cy="39776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230368" cy="65836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ArSL WORDS · MODEL 4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Stacked BiLSTM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651760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EC4899"/>
                </a:solidFill>
                <a:latin typeface="Calibri"/>
              </a:rPr>
              <a:t>•  </a:t>
            </a:r>
            <a:r>
              <a:rPr sz="1400" b="1">
                <a:solidFill>
                  <a:srgbClr val="444B5A"/>
                </a:solidFill>
                <a:latin typeface="Calibri"/>
              </a:rPr>
              <a:t>225-D Holistic landmarks </a:t>
            </a:r>
            <a:r>
              <a:rPr sz="1400">
                <a:solidFill>
                  <a:srgbClr val="444B5A"/>
                </a:solidFill>
                <a:latin typeface="Calibri"/>
              </a:rPr>
              <a:t>— body + both hands, nose/wrist-normalised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EC4899"/>
                </a:solidFill>
                <a:latin typeface="Calibri"/>
              </a:rPr>
              <a:t>•  </a:t>
            </a:r>
            <a:r>
              <a:rPr sz="1400" b="1">
                <a:solidFill>
                  <a:srgbClr val="444B5A"/>
                </a:solidFill>
                <a:latin typeface="Calibri"/>
              </a:rPr>
              <a:t>48-frame sequences </a:t>
            </a:r>
            <a:r>
              <a:rPr sz="1400">
                <a:solidFill>
                  <a:srgbClr val="444B5A"/>
                </a:solidFill>
                <a:latin typeface="Calibri"/>
              </a:rPr>
              <a:t>read forward &amp; backward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EC4899"/>
                </a:solidFill>
                <a:latin typeface="Calibri"/>
              </a:rPr>
              <a:t>•  </a:t>
            </a:r>
            <a:r>
              <a:rPr sz="1400" b="1">
                <a:solidFill>
                  <a:srgbClr val="444B5A"/>
                </a:solidFill>
                <a:latin typeface="Calibri"/>
              </a:rPr>
              <a:t>100 KArSL classes</a:t>
            </a:r>
            <a:r>
              <a:rPr sz="1400">
                <a:solidFill>
                  <a:srgbClr val="444B5A"/>
                </a:solidFill>
                <a:latin typeface="Calibri"/>
              </a:rPr>
              <a:t>,  ~255 K params — lightweight for small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5138928"/>
            <a:ext cx="4681728" cy="502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5138928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4899"/>
                </a:solidFill>
                <a:latin typeface="Calibri"/>
              </a:rPr>
              <a:t>99.62% Top-1  ·  99.58% macro-F1  (KArSL)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4899"/>
                </a:solidFill>
                <a:latin typeface="Calibri"/>
              </a:rPr>
              <a:t>Why two architectures?  </a:t>
            </a:r>
            <a:r>
              <a:rPr sz="1250" b="0" i="0">
                <a:solidFill>
                  <a:srgbClr val="444B5A"/>
                </a:solidFill>
                <a:latin typeface="Calibri"/>
              </a:rPr>
              <a:t>3-D CNN absorbs signer/background variance from pixels; BiLSTM generalises from compact landmarks on a small corpus.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Held-Out Test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542032" cy="21488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2542032" cy="1097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58568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7C3AED"/>
                </a:solidFill>
                <a:latin typeface="Calibri"/>
              </a:rPr>
              <a:t>99.06%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7296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ASL Letters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38728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MLP · 78-D · 28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74519"/>
            <a:ext cx="2542032" cy="21488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874519"/>
            <a:ext cx="2542032" cy="1097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258568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C4899"/>
                </a:solidFill>
                <a:latin typeface="Calibri"/>
              </a:rPr>
              <a:t>99.63%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7296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ArSL Letters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38728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MLP · 63-D · 32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874519"/>
            <a:ext cx="2542032" cy="21488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874519"/>
            <a:ext cx="2542032" cy="1097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258568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4E79"/>
                </a:solidFill>
                <a:latin typeface="Calibri"/>
              </a:rPr>
              <a:t>99.62%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7296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ArSL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538728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BiLSTM · 100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874519"/>
            <a:ext cx="2542032" cy="21488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24544" y="1874519"/>
            <a:ext cx="2542032" cy="109728"/>
          </a:xfrm>
          <a:prstGeom prst="roundRect">
            <a:avLst/>
          </a:prstGeom>
          <a:solidFill>
            <a:srgbClr val="C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2258568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C06A00"/>
                </a:solidFill>
                <a:latin typeface="Calibri"/>
              </a:rPr>
              <a:t>65.89%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317296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ASL 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3538728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B5A"/>
                </a:solidFill>
                <a:latin typeface="Calibri"/>
              </a:rPr>
              <a:t>I3D · Top-1 (84.11% Top-5)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434840"/>
            <a:ext cx="10698480" cy="16002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61772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EC4899"/>
                </a:solidFill>
                <a:latin typeface="Calibri"/>
              </a:rPr>
              <a:t>Reading the numbers honestly.  </a:t>
            </a:r>
            <a:r>
              <a:rPr sz="1550" b="0" i="0">
                <a:solidFill>
                  <a:srgbClr val="444B5A"/>
                </a:solidFill>
                <a:latin typeface="Calibri"/>
              </a:rPr>
              <a:t>The three landmark-based models exceed 99% because MediaPipe factors out signer appearance, background, and lighting before the classifier sees the data.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444B5A"/>
                </a:solidFill>
                <a:latin typeface="Calibri"/>
              </a:rPr>
              <a:t>The ASL word I3D solves a genuinely harder problem — recognising motion directly from raw RGB pixels — so 65.89% Top-1 / 84.11% Top-5 reflects task difficulty, not a weaker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A Deployable Web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7-9_chat_translatio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83080"/>
            <a:ext cx="3886200" cy="4219818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49808" y="1783080"/>
            <a:ext cx="6583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Live translation + chat </a:t>
            </a:r>
            <a:r>
              <a:rPr sz="1550">
                <a:solidFill>
                  <a:srgbClr val="444B5A"/>
                </a:solidFill>
                <a:latin typeface="Calibri"/>
              </a:rPr>
              <a:t>— select language &amp; mode, sign to the webcam, send the prediction into a Socket.IO chat room.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Stateless JWT auth </a:t>
            </a:r>
            <a:r>
              <a:rPr sz="1550">
                <a:solidFill>
                  <a:srgbClr val="444B5A"/>
                </a:solidFill>
                <a:latin typeface="Calibri"/>
              </a:rPr>
              <a:t>with bcrypt hashing; Prisma ORM over SQLite for users, rooms &amp; messages.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Encapsulated ML tier </a:t>
            </a:r>
            <a:r>
              <a:rPr sz="1550">
                <a:solidFill>
                  <a:srgbClr val="444B5A"/>
                </a:solidFill>
                <a:latin typeface="Calibri"/>
              </a:rPr>
              <a:t>— the FastAPI service is reachable only through the authenticated Node gateway.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Graceful degradation </a:t>
            </a:r>
            <a:r>
              <a:rPr sz="1550">
                <a:solidFill>
                  <a:srgbClr val="444B5A"/>
                </a:solidFill>
                <a:latin typeface="Calibri"/>
              </a:rPr>
              <a:t>— webcam denial, offline model service, and invalid sessions all fail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3246120" cy="13716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4892040"/>
            <a:ext cx="100584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7C3AED"/>
                </a:solidFill>
                <a:latin typeface="Calibri"/>
              </a:rPr>
              <a:t>51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733288"/>
            <a:ext cx="2834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B5A"/>
                </a:solidFill>
                <a:latin typeface="Calibri"/>
              </a:rPr>
              <a:t>letter-mode end-to-end latency (p50) — well under the 200 ms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892040"/>
            <a:ext cx="3246120" cy="13716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4892040"/>
            <a:ext cx="100584" cy="13716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507492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C4899"/>
                </a:solidFill>
                <a:latin typeface="Calibri"/>
              </a:rPr>
              <a:t>3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5733288"/>
            <a:ext cx="2834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B5A"/>
                </a:solidFill>
                <a:latin typeface="Calibri"/>
              </a:rPr>
              <a:t>independently hostable: static SPA · Node server ·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SYSTEM DESIGN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Data Model &amp; Persistence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5760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Prisma ORM </a:t>
            </a:r>
            <a:r>
              <a:rPr sz="1550">
                <a:solidFill>
                  <a:srgbClr val="444B5A"/>
                </a:solidFill>
                <a:latin typeface="Calibri"/>
              </a:rPr>
              <a:t>mediates every database access through a single typed schema (schema.prisma).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Relational storage </a:t>
            </a:r>
            <a:r>
              <a:rPr sz="1550">
                <a:solidFill>
                  <a:srgbClr val="444B5A"/>
                </a:solidFill>
                <a:latin typeface="Calibri"/>
              </a:rPr>
              <a:t>— SQLite in the current build, portable to Neon PostgreSQL for the cloud — centralized, secure and persistent.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Four core entities </a:t>
            </a:r>
            <a:r>
              <a:rPr sz="1550">
                <a:solidFill>
                  <a:srgbClr val="444B5A"/>
                </a:solidFill>
                <a:latin typeface="Calibri"/>
              </a:rPr>
              <a:t>— User, Room, RoomMember and Message.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Relationships </a:t>
            </a:r>
            <a:r>
              <a:rPr sz="1550">
                <a:solidFill>
                  <a:srgbClr val="444B5A"/>
                </a:solidFill>
                <a:latin typeface="Calibri"/>
              </a:rPr>
              <a:t>— users join one or more rooms; each room holds its members and the messages exchanged in it.</a:t>
            </a:r>
          </a:p>
        </p:txBody>
      </p:sp>
      <p:pic>
        <p:nvPicPr>
          <p:cNvPr id="8" name="Picture 7" descr="fig_7-4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83080"/>
            <a:ext cx="4452744" cy="4343400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SYSTEM DESIGN ·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Class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Each entity maps to a class </a:t>
            </a:r>
            <a:r>
              <a:rPr sz="1550">
                <a:solidFill>
                  <a:srgbClr val="444B5A"/>
                </a:solidFill>
                <a:latin typeface="Calibri"/>
              </a:rPr>
              <a:t>with typed attributes and its own behaviour.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Key operations </a:t>
            </a:r>
            <a:r>
              <a:rPr sz="1550">
                <a:solidFill>
                  <a:srgbClr val="444B5A"/>
                </a:solidFill>
                <a:latin typeface="Calibri"/>
              </a:rPr>
              <a:t>— User.register() / login(), Room.createRoom(), RoomMember.joinRoom(), Message.sendMessage().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Associations mirror the ER model </a:t>
            </a:r>
            <a:r>
              <a:rPr sz="1550">
                <a:solidFill>
                  <a:srgbClr val="444B5A"/>
                </a:solidFill>
                <a:latin typeface="Calibri"/>
              </a:rPr>
              <a:t>— has, contains, sends and holds, with their multiplicities.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7C3AED"/>
                </a:solidFill>
                <a:latin typeface="Calibri"/>
              </a:rPr>
              <a:t>•  </a:t>
            </a:r>
            <a:r>
              <a:rPr sz="1550" b="1">
                <a:solidFill>
                  <a:srgbClr val="444B5A"/>
                </a:solidFill>
                <a:latin typeface="Calibri"/>
              </a:rPr>
              <a:t>One schema, two views </a:t>
            </a:r>
            <a:r>
              <a:rPr sz="1550">
                <a:solidFill>
                  <a:srgbClr val="444B5A"/>
                </a:solidFill>
                <a:latin typeface="Calibri"/>
              </a:rPr>
              <a:t>— the class model and the ERD describe the same four objects.</a:t>
            </a:r>
          </a:p>
        </p:txBody>
      </p:sp>
      <p:pic>
        <p:nvPicPr>
          <p:cNvPr id="8" name="Picture 7" descr="fig_7-5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83080"/>
            <a:ext cx="4048452" cy="4160520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SYSTEM DESIGN ·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Prediction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Client </a:t>
            </a:r>
            <a:r>
              <a:rPr sz="1500">
                <a:solidFill>
                  <a:srgbClr val="444B5A"/>
                </a:solidFill>
                <a:latin typeface="Calibri"/>
              </a:rPr>
              <a:t>captures a webcam frame, encodes it to Base64 and POSTs /predict with language, mode and JWT.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Node middleware </a:t>
            </a:r>
            <a:r>
              <a:rPr sz="1500">
                <a:solidFill>
                  <a:srgbClr val="444B5A"/>
                </a:solidFill>
                <a:latin typeface="Calibri"/>
              </a:rPr>
              <a:t>validates the JWT, then proxies the request to the model service.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FastAPI pipeline </a:t>
            </a:r>
            <a:r>
              <a:rPr sz="1500">
                <a:solidFill>
                  <a:srgbClr val="444B5A"/>
                </a:solidFill>
                <a:latin typeface="Calibri"/>
              </a:rPr>
              <a:t>decodes the frame, extracts MediaPipe landmarks and runs the standalone model.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7C3AED"/>
                </a:solidFill>
                <a:latin typeface="Calibri"/>
              </a:rPr>
              <a:t>•  </a:t>
            </a:r>
            <a:r>
              <a:rPr sz="1500" b="1">
                <a:solidFill>
                  <a:srgbClr val="444B5A"/>
                </a:solidFill>
                <a:latin typeface="Calibri"/>
              </a:rPr>
              <a:t>Response </a:t>
            </a:r>
            <a:r>
              <a:rPr sz="1500">
                <a:solidFill>
                  <a:srgbClr val="444B5A"/>
                </a:solidFill>
                <a:latin typeface="Calibri"/>
              </a:rPr>
              <a:t>— prediction + confidence flow back through Node to the UI as translated text.</a:t>
            </a:r>
          </a:p>
        </p:txBody>
      </p:sp>
      <p:pic>
        <p:nvPicPr>
          <p:cNvPr id="8" name="Picture 7" descr="fig_7-3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486400" cy="4379828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SYSTEM DESIGN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Component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7-2_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783080"/>
            <a:ext cx="10424160" cy="3119234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49808" y="50749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 </a:t>
            </a:r>
            <a:r>
              <a:rPr sz="1350" b="1">
                <a:solidFill>
                  <a:srgbClr val="444B5A"/>
                </a:solidFill>
                <a:latin typeface="Calibri"/>
              </a:rPr>
              <a:t>Frontend </a:t>
            </a:r>
            <a:r>
              <a:rPr sz="1350">
                <a:solidFill>
                  <a:srgbClr val="444B5A"/>
                </a:solidFill>
                <a:latin typeface="Calibri"/>
              </a:rPr>
              <a:t>— AppHomePage orchestrates the stickman canvas, pose-viewer, auth/theme context and the Axios API layer.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 </a:t>
            </a:r>
            <a:r>
              <a:rPr sz="1350" b="1">
                <a:solidFill>
                  <a:srgbClr val="444B5A"/>
                </a:solidFill>
                <a:latin typeface="Calibri"/>
              </a:rPr>
              <a:t>Backend </a:t>
            </a:r>
            <a:r>
              <a:rPr sz="1350">
                <a:solidFill>
                  <a:srgbClr val="444B5A"/>
                </a:solidFill>
                <a:latin typeface="Calibri"/>
              </a:rPr>
              <a:t>— Auth and Predict routers sit over the Prisma DB client, while chat socket handlers stream messages.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 </a:t>
            </a:r>
            <a:r>
              <a:rPr sz="1350" b="1">
                <a:solidFill>
                  <a:srgbClr val="444B5A"/>
                </a:solidFill>
                <a:latin typeface="Calibri"/>
              </a:rPr>
              <a:t>The Predict Router </a:t>
            </a:r>
            <a:r>
              <a:rPr sz="1350">
                <a:solidFill>
                  <a:srgbClr val="444B5A"/>
                </a:solidFill>
                <a:latin typeface="Calibri"/>
              </a:rPr>
              <a:t>is the sole gateway to the external FastAPI inference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BEYOND TRANSLATION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The Education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44B5A"/>
                </a:solidFill>
                <a:latin typeface="Calibri"/>
              </a:rPr>
              <a:t>Bilingual learning built on </a:t>
            </a:r>
            <a:r>
              <a:rPr sz="1500" b="1" i="0">
                <a:solidFill>
                  <a:srgbClr val="1A1035"/>
                </a:solidFill>
                <a:latin typeface="Calibri"/>
              </a:rPr>
              <a:t>motion-capture skeletons of real signers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 — not stick figures. Three tools, in both ASL and ArSL: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40280"/>
            <a:ext cx="3429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240280"/>
            <a:ext cx="3429000" cy="8229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7C3AED"/>
                </a:solidFill>
                <a:latin typeface="Calibri"/>
              </a:rPr>
              <a:t>Sign Viewer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Browse a categorised vocabulary and watch each sign; fingerspell any typed 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429000" cy="82296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39572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C4899"/>
                </a:solidFill>
                <a:latin typeface="Calibri"/>
              </a:rPr>
              <a:t>Sentence Builder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Type a free-form sentence — known words are signed, unknown words fingerspelled.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240280"/>
            <a:ext cx="3429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8431" y="2240280"/>
            <a:ext cx="3429000" cy="8229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239572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4E79"/>
                </a:solidFill>
                <a:latin typeface="Calibri"/>
              </a:rPr>
              <a:t>Practice Mode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Perform a prompted sign to the webcam and get instant feedback from the models.</a:t>
            </a:r>
          </a:p>
        </p:txBody>
      </p:sp>
      <p:pic>
        <p:nvPicPr>
          <p:cNvPr id="17" name="Picture 16" descr="5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40480"/>
            <a:ext cx="1968372" cy="2331720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pic>
        <p:nvPicPr>
          <p:cNvPr id="18" name="Picture 17" descr="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840480"/>
            <a:ext cx="1713914" cy="2331720"/>
          </a:xfrm>
          <a:prstGeom prst="rect">
            <a:avLst/>
          </a:prstGeom>
          <a:ln w="15875">
            <a:solidFill>
              <a:srgbClr val="EFEAFE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5806440" y="3977639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7C3AED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Server-side animation stitching </a:t>
            </a:r>
            <a:r>
              <a:rPr sz="1450">
                <a:solidFill>
                  <a:srgbClr val="444B5A"/>
                </a:solidFill>
                <a:latin typeface="Calibri"/>
              </a:rPr>
              <a:t>joins many clips into one smooth signing animation.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7C3AED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44 EN + 42 AR verified word signs </a:t>
            </a:r>
            <a:r>
              <a:rPr sz="1450">
                <a:solidFill>
                  <a:srgbClr val="444B5A"/>
                </a:solidFill>
                <a:latin typeface="Calibri"/>
              </a:rPr>
              <a:t>across 9 categories, plus both full alphabets.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7C3AED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Content sourced from sign.mt </a:t>
            </a:r>
            <a:r>
              <a:rPr sz="1450">
                <a:solidFill>
                  <a:srgbClr val="444B5A"/>
                </a:solidFill>
                <a:latin typeface="Calibri"/>
              </a:rPr>
              <a:t>(ASL + Jordanian SL dictionaries), rendered by pose-viewer.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ENGINEERING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Guaranteeing Genuine 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10698480" cy="914400"/>
          </a:xfrm>
          <a:prstGeom prst="roundRect">
            <a:avLst/>
          </a:prstGeom>
          <a:solidFill>
            <a:srgbClr val="F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37360"/>
            <a:ext cx="109728" cy="9144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10149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C4899"/>
                </a:solidFill>
                <a:latin typeface="Calibri"/>
              </a:rPr>
              <a:t>The problem:  </a:t>
            </a:r>
            <a:r>
              <a:rPr sz="1500" b="0" i="0">
                <a:solidFill>
                  <a:srgbClr val="1A1035"/>
                </a:solidFill>
                <a:latin typeface="Calibri"/>
              </a:rPr>
              <a:t>the sign.mt dictionary silently FINGERSPELLS any word it lacks — with HTTP 200. A successful fetch does not prove a real sign exists, and publishing a spelled clip would teach learners something wrong.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8036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98648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Fetch the word AND the doubled word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the doubled form is guaranteed out-of-vocabulary → the cloud's own spelling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4048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58768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Reduce to handshape descriptors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wrist-relative, scale-normalised right-hand landmarks per frame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80060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18888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035"/>
                </a:solidFill>
                <a:latin typeface="Calibri"/>
              </a:rPr>
              <a:t>Compare with dynamic time warping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B5A"/>
                </a:solidFill>
                <a:latin typeface="Calibri"/>
              </a:rPr>
              <a:t>spelled fallback &lt; 0.9  ·  genuine sign ≥ 2.9 — a clean separation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897880"/>
            <a:ext cx="1069848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897880"/>
            <a:ext cx="1014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2A06B"/>
                </a:solidFill>
                <a:latin typeface="Calibri"/>
              </a:rPr>
              <a:t>Result:  </a:t>
            </a:r>
            <a:r>
              <a:rPr sz="1350" b="0" i="0">
                <a:solidFill>
                  <a:srgbClr val="444B5A"/>
                </a:solidFill>
                <a:latin typeface="Calibri"/>
              </a:rPr>
              <a:t>every Arabic word in the app is a verified genuine sign; everything else fingerspells honestly. Bonus discoveries: the dictionary keys entries under proper orthography and definite-article forms.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Limitations &amp; Failure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5230368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30368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C3AED"/>
                </a:solidFill>
                <a:latin typeface="Calibri"/>
              </a:rPr>
              <a:t>MODEL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DATA &amp;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7C3AED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Isolated signs only </a:t>
            </a:r>
            <a:r>
              <a:rPr sz="1450">
                <a:solidFill>
                  <a:srgbClr val="444B5A"/>
                </a:solidFill>
                <a:latin typeface="Calibri"/>
              </a:rPr>
              <a:t>— the user pauses between signs; no continuous sentence decoding.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7C3AED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Dialect mismatch </a:t>
            </a:r>
            <a:r>
              <a:rPr sz="1450">
                <a:solidFill>
                  <a:srgbClr val="444B5A"/>
                </a:solidFill>
                <a:latin typeface="Calibri"/>
              </a:rPr>
              <a:t>— viewer teaches Jordanian SL, recognition trained on KArSL (Saudi).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7C3AED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Motion letters (J, Z) </a:t>
            </a:r>
            <a:r>
              <a:rPr sz="1450">
                <a:solidFill>
                  <a:srgbClr val="444B5A"/>
                </a:solidFill>
                <a:latin typeface="Calibri"/>
              </a:rPr>
              <a:t>— single-frame MLPs can't see the trajectory that defines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6888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EC4899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ASL words at 65.89% </a:t>
            </a:r>
            <a:r>
              <a:rPr sz="1450">
                <a:solidFill>
                  <a:srgbClr val="444B5A"/>
                </a:solidFill>
                <a:latin typeface="Calibri"/>
              </a:rPr>
              <a:t>— appearance-based recognition is inherently harder.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EC4899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Signer generalisation </a:t>
            </a:r>
            <a:r>
              <a:rPr sz="1450">
                <a:solidFill>
                  <a:srgbClr val="444B5A"/>
                </a:solidFill>
                <a:latin typeface="Calibri"/>
              </a:rPr>
              <a:t>— accuracy drops on signers absent from training.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EC4899"/>
                </a:solidFill>
                <a:latin typeface="Calibri"/>
              </a:rPr>
              <a:t>•  </a:t>
            </a:r>
            <a:r>
              <a:rPr sz="1450" b="1">
                <a:solidFill>
                  <a:srgbClr val="444B5A"/>
                </a:solidFill>
                <a:latin typeface="Calibri"/>
              </a:rPr>
              <a:t>Constrained compute </a:t>
            </a:r>
            <a:r>
              <a:rPr sz="1450">
                <a:solidFill>
                  <a:srgbClr val="444B5A"/>
                </a:solidFill>
                <a:latin typeface="Calibri"/>
              </a:rPr>
              <a:t>— 4 GB GPU limited batch size and full-corpus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893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A06B"/>
                </a:solidFill>
                <a:latin typeface="Calibri"/>
              </a:rPr>
              <a:t>Positioning:  </a:t>
            </a:r>
            <a:r>
              <a:rPr sz="1300" b="0" i="1">
                <a:solidFill>
                  <a:srgbClr val="444B5A"/>
                </a:solidFill>
                <a:latin typeface="Calibri"/>
              </a:rPr>
              <a:t>Eshara is an assistive &amp; educational tool — a demonstration of feasibility, not a replacement for certified human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084832"/>
            <a:ext cx="566928" cy="56692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6654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61488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035"/>
                </a:solidFill>
                <a:latin typeface="Calibri"/>
              </a:rPr>
              <a:t>Continuous recognition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Sentence-level SLR &amp; translation on corpora like How2Sign.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82880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0288" y="2084832"/>
            <a:ext cx="566928" cy="56692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6654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C4899"/>
                </a:solidFill>
                <a:latin typeface="Calibri"/>
              </a:rPr>
              <a:t>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61488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035"/>
                </a:solidFill>
                <a:latin typeface="Calibri"/>
              </a:rPr>
              <a:t>Expanded Arabic vocabulary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More words &amp; regional dialects, with deaf-community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82880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93024" y="2084832"/>
            <a:ext cx="566928" cy="56692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6654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761488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035"/>
                </a:solidFill>
                <a:latin typeface="Calibri"/>
              </a:rPr>
              <a:t>Wire ArSL words to live web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Close the last integration gap in the deployed /predict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9476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4050792"/>
            <a:ext cx="566928" cy="56692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325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27448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035"/>
                </a:solidFill>
                <a:latin typeface="Calibri"/>
              </a:rPr>
              <a:t>Mobile &amp; edge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On-device inference via TensorFlow.js / ONNX Runtime.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79476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90288" y="4050792"/>
            <a:ext cx="566928" cy="56692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0325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C4899"/>
                </a:solidFill>
                <a:latin typeface="Calibri"/>
              </a:rPr>
              <a:t>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727448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035"/>
                </a:solidFill>
                <a:latin typeface="Calibri"/>
              </a:rPr>
              <a:t>Bidirectional communication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Pair sign-to-text with text-to-sign avatar synthesis.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794760"/>
            <a:ext cx="3401568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93024" y="4050792"/>
            <a:ext cx="566928" cy="566928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40325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4727448"/>
            <a:ext cx="29443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035"/>
                </a:solidFill>
                <a:latin typeface="Calibri"/>
              </a:rPr>
              <a:t>Formal user studies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SUS evaluation with deaf &amp; hard-of-hearing participants.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C4899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035"/>
                </a:solidFill>
                <a:latin typeface="Calibri"/>
              </a:rPr>
              <a:t>What Eshara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0881360" cy="18288"/>
          </a:xfrm>
          <a:prstGeom prst="rect">
            <a:avLst/>
          </a:prstGeom>
          <a:solidFill>
            <a:srgbClr val="E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5230368" cy="120700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17627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579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2029968"/>
            <a:ext cx="4160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Unified bilingual web architecture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four heterogeneous SLR models served through one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230368" cy="120700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76272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579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2029968"/>
            <a:ext cx="4160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Full ASL + ArSL coverage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letters and words, with reproducible training pipelines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00400"/>
            <a:ext cx="5230368" cy="120700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54787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29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3401568"/>
            <a:ext cx="4160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99.62% ArSL word recognition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a reliable 100-class Arabic word path on KArSL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200400"/>
            <a:ext cx="5230368" cy="120700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547872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29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3401568"/>
            <a:ext cx="4160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Privacy-oriented inference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compact landmarks over the wire, not raw video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72000"/>
            <a:ext cx="5230368" cy="120700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91947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9011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7" y="4773168"/>
            <a:ext cx="4160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Verified bilingual education module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motion-capture signs guaranteed genuine, not fingerspelled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572000"/>
            <a:ext cx="5230368" cy="1207008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919472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9011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4773168"/>
            <a:ext cx="4160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035"/>
                </a:solidFill>
                <a:latin typeface="Calibri"/>
              </a:rPr>
              <a:t>Deployable, low-latency product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444B5A"/>
                </a:solidFill>
                <a:latin typeface="Calibri"/>
              </a:rPr>
              <a:t>browser + webcam only — 51 ms letter-mode 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Eshara </a:t>
            </a:r>
            <a:r>
              <a:rPr sz="1100" b="0" i="0">
                <a:solidFill>
                  <a:srgbClr val="8B92A6"/>
                </a:solidFill>
                <a:latin typeface="Calibri"/>
              </a:rPr>
              <a:t>· Bilingual Sign Language Recognition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B92A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035"/>
              </a:gs>
              <a:gs pos="100000">
                <a:srgbClr val="2A1B53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solidFill>
            <a:srgbClr val="2E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332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169164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solidFill>
                  <a:srgbClr val="A78BFA"/>
                </a:solidFill>
                <a:latin typeface="Calibri"/>
              </a:rPr>
              <a:t>Es</a:t>
            </a:r>
            <a:r>
              <a:rPr sz="6600" b="1">
                <a:solidFill>
                  <a:srgbClr val="EC4899"/>
                </a:solidFill>
                <a:latin typeface="Calibri"/>
              </a:rPr>
              <a:t>hara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803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A78BFA"/>
                </a:solidFill>
                <a:latin typeface="Calibri"/>
              </a:rPr>
              <a:t>إشارة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A78BF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5212080"/>
            <a:ext cx="6153912" cy="18288"/>
          </a:xfrm>
          <a:prstGeom prst="rect">
            <a:avLst/>
          </a:prstGeom>
          <a:solidFill>
            <a:srgbClr val="443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440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Ahmed Adel  ·  Hadeel Gamal  ·  Alaa Osama  ·  Salah Mohamed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78BFA"/>
                </a:solidFill>
                <a:latin typeface="Calibri"/>
              </a:rPr>
              <a:t>Supervised by Dr. Nada Mostafa  &amp;  Dr. Reham Taher Al Magraby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